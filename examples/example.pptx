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14760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9649" y="108371"/>
            <a:ext cx="9482429" cy="298019"/>
          </a:xfrm>
          <a:prstGeom prst="rect">
            <a:avLst/>
          </a:prstGeom>
          <a:noFill/>
        </p:spPr>
        <p:txBody>
          <a:bodyPr wrap="square" anchor="ctr" lIns="6000" rIns="6000" tIns="6000" bIns="6000">
            <a:spAutoFit/>
          </a:bodyPr>
          <a:lstStyle/>
          <a:p>
            <a:pPr algn="l"/>
            <a:r>
              <a:rPr sz="1710" b="1">
                <a:solidFill>
                  <a:srgbClr val="1A202C"/>
                </a:solidFill>
              </a:rPr>
              <a:t>Example — Ingest → Lake → Consumers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5463" y="541853"/>
            <a:ext cx="2709266" cy="4063898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6350">
            <a:solidFill>
              <a:srgbClr val="6691F1"/>
            </a:solidFill>
          </a:ln>
          <a:effectLst>
            <a:outerShdw blurRad="50000" dist="25000" dir="2700000" rotWithShape="0">
              <a:srgbClr val="8A97A2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ctr"/>
            <a:r>
              <a:rPr sz="960" b="1">
                <a:solidFill>
                  <a:srgbClr val="2563EB"/>
                </a:solidFill>
              </a:rPr>
              <a:t>Collect</a:t>
            </a:r>
          </a:p>
        </p:txBody>
      </p:sp>
      <p:pic>
        <p:nvPicPr>
          <p:cNvPr id="4" name="Picture 3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948243"/>
            <a:ext cx="406390" cy="4063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0927" y="1368179"/>
            <a:ext cx="1083706" cy="298019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ctr"/>
            <a:r>
              <a:rPr sz="640" b="0">
                <a:solidFill>
                  <a:srgbClr val="1A202C"/>
                </a:solidFill>
              </a:rPr>
              <a:t>Servers</a:t>
            </a:r>
          </a:p>
        </p:txBody>
      </p:sp>
      <p:pic>
        <p:nvPicPr>
          <p:cNvPr id="6" name="Picture 5" descr="e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54" y="948243"/>
            <a:ext cx="406390" cy="4063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90096" y="1368179"/>
            <a:ext cx="1083706" cy="298019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ctr"/>
            <a:r>
              <a:rPr sz="640" b="0">
                <a:solidFill>
                  <a:srgbClr val="1A202C"/>
                </a:solidFill>
              </a:rPr>
              <a:t>K8s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5" y="2031949"/>
            <a:ext cx="406390" cy="406390"/>
          </a:xfrm>
          <a:prstGeom prst="rect">
            <a:avLst/>
          </a:prstGeom>
          <a:noFill/>
        </p:spPr>
        <p:txBody>
          <a:bodyPr wrap="square" anchor="ctr" lIns="6000" rIns="6000" tIns="6000" bIns="6000">
            <a:spAutoFit/>
          </a:bodyPr>
          <a:lstStyle/>
          <a:p>
            <a:pPr algn="ctr"/>
            <a:r>
              <a:rPr sz="2350" b="0">
                <a:solidFill>
                  <a:srgbClr val="232F3E"/>
                </a:solidFill>
              </a:rPr>
              <a:t>☁️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927" y="2451885"/>
            <a:ext cx="1083706" cy="298019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ctr"/>
            <a:r>
              <a:rPr sz="640" b="0">
                <a:solidFill>
                  <a:srgbClr val="1A202C"/>
                </a:solidFill>
              </a:rPr>
              <a:t>SaaS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927" y="2709266"/>
            <a:ext cx="2438339" cy="4876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87A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ctr"/>
            <a:r>
              <a:rPr sz="850" b="0">
                <a:solidFill>
                  <a:srgbClr val="1A202C"/>
                </a:solidFill>
              </a:rPr>
              <a:t>OpenTelemetry collectors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6582" y="541853"/>
            <a:ext cx="2980192" cy="4063898"/>
          </a:xfrm>
          <a:prstGeom prst="roundRect">
            <a:avLst>
              <a:gd name="adj" fmla="val 4000"/>
            </a:avLst>
          </a:prstGeom>
          <a:solidFill>
            <a:srgbClr val="EAF7EC"/>
          </a:solidFill>
          <a:ln w="6350">
            <a:solidFill>
              <a:srgbClr val="6CA46F"/>
            </a:solidFill>
          </a:ln>
          <a:effectLst>
            <a:outerShdw blurRad="50000" dist="25000" dir="2700000" rotWithShape="0">
              <a:srgbClr val="8A97A2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ctr"/>
            <a:r>
              <a:rPr sz="960" b="1">
                <a:solidFill>
                  <a:srgbClr val="2E7D32"/>
                </a:solidFill>
              </a:rPr>
              <a:t>MELT Lake (S3 / Iceberg)</a:t>
            </a:r>
          </a:p>
        </p:txBody>
      </p:sp>
      <p:pic>
        <p:nvPicPr>
          <p:cNvPr id="12" name="Picture 11" descr="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138" y="948243"/>
            <a:ext cx="487668" cy="4876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31630" y="948243"/>
            <a:ext cx="2031949" cy="487668"/>
          </a:xfrm>
          <a:prstGeom prst="roundRect">
            <a:avLst>
              <a:gd name="adj" fmla="val 8000"/>
            </a:avLst>
          </a:prstGeom>
          <a:solidFill>
            <a:srgbClr val="EA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l"/>
            <a:r>
              <a:rPr sz="850" b="0">
                <a:solidFill>
                  <a:srgbClr val="1A202C"/>
                </a:solidFill>
              </a:rPr>
              <a:t>RAW zone</a:t>
            </a:r>
          </a:p>
        </p:txBody>
      </p:sp>
      <p:pic>
        <p:nvPicPr>
          <p:cNvPr id="14" name="Picture 13" descr="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138" y="1896486"/>
            <a:ext cx="487668" cy="4876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31630" y="1896486"/>
            <a:ext cx="2031949" cy="487668"/>
          </a:xfrm>
          <a:prstGeom prst="roundRect">
            <a:avLst>
              <a:gd name="adj" fmla="val 8000"/>
            </a:avLst>
          </a:prstGeom>
          <a:solidFill>
            <a:srgbClr val="EA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l"/>
            <a:r>
              <a:rPr sz="850" b="0">
                <a:solidFill>
                  <a:srgbClr val="1A202C"/>
                </a:solidFill>
              </a:rPr>
              <a:t>STAGED zone</a:t>
            </a:r>
          </a:p>
        </p:txBody>
      </p:sp>
      <p:pic>
        <p:nvPicPr>
          <p:cNvPr id="16" name="Picture 15" descr="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138" y="2844729"/>
            <a:ext cx="487668" cy="48766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31630" y="2844729"/>
            <a:ext cx="2031949" cy="487668"/>
          </a:xfrm>
          <a:prstGeom prst="roundRect">
            <a:avLst>
              <a:gd name="adj" fmla="val 8000"/>
            </a:avLst>
          </a:prstGeom>
          <a:solidFill>
            <a:srgbClr val="EA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l"/>
            <a:r>
              <a:rPr sz="850" b="0">
                <a:solidFill>
                  <a:srgbClr val="1A202C"/>
                </a:solidFill>
              </a:rPr>
              <a:t>BUSINESS zone</a:t>
            </a:r>
          </a:p>
        </p:txBody>
      </p:sp>
      <p:pic>
        <p:nvPicPr>
          <p:cNvPr id="18" name="Picture 17" descr="g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138" y="3792972"/>
            <a:ext cx="487668" cy="4876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10237" y="4294186"/>
            <a:ext cx="1365470" cy="216741"/>
          </a:xfrm>
          <a:prstGeom prst="rect">
            <a:avLst/>
          </a:prstGeom>
          <a:noFill/>
        </p:spPr>
        <p:txBody>
          <a:bodyPr wrap="square" anchor="t" lIns="6000" rIns="6000" tIns="6000" bIns="6000">
            <a:spAutoFit/>
          </a:bodyPr>
          <a:lstStyle/>
          <a:p>
            <a:pPr algn="ctr"/>
            <a:r>
              <a:rPr sz="640" b="0">
                <a:solidFill>
                  <a:srgbClr val="232F3E"/>
                </a:solidFill>
              </a:rPr>
              <a:t>Glue + DQ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8627" y="541853"/>
            <a:ext cx="2709266" cy="4063898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6350">
            <a:solidFill>
              <a:srgbClr val="7C8B92"/>
            </a:solidFill>
          </a:ln>
          <a:effectLst>
            <a:outerShdw blurRad="50000" dist="25000" dir="2700000" rotWithShape="0">
              <a:srgbClr val="8A97A2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ctr"/>
            <a:r>
              <a:rPr sz="960" b="1">
                <a:solidFill>
                  <a:srgbClr val="455A64"/>
                </a:solidFill>
              </a:rPr>
              <a:t>Consumers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4090" y="948243"/>
            <a:ext cx="2438339" cy="8669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8A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ctr"/>
            <a:r>
              <a:rPr sz="750" b="0">
                <a:solidFill>
                  <a:srgbClr val="1A202C"/>
                </a:solidFill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7152461" y="1178531"/>
            <a:ext cx="406390" cy="4063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ctr"/>
            <a:r>
              <a:rPr sz="1490" b="0">
                <a:solidFill>
                  <a:srgbClr val="111111"/>
                </a:solidFill>
              </a:rPr>
              <a:t>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7222" y="1029521"/>
            <a:ext cx="1761023" cy="216741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l"/>
            <a:r>
              <a:rPr sz="850" b="1">
                <a:solidFill>
                  <a:srgbClr val="1A202C"/>
                </a:solidFill>
              </a:rPr>
              <a:t>Executives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67222" y="1246262"/>
            <a:ext cx="1761023" cy="514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l"/>
            <a:r>
              <a:rPr sz="750" b="0">
                <a:solidFill>
                  <a:srgbClr val="5B6B7B"/>
                </a:solidFill>
              </a:rPr>
              <a:t>KPIs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4090" y="2031949"/>
            <a:ext cx="2438339" cy="8669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8A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ctr"/>
            <a:r>
              <a:rPr sz="750" b="0">
                <a:solidFill>
                  <a:srgbClr val="1A202C"/>
                </a:solidFill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7152461" y="2262237"/>
            <a:ext cx="406390" cy="4063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ctr"/>
            <a:r>
              <a:rPr sz="1490" b="0">
                <a:solidFill>
                  <a:srgbClr val="111111"/>
                </a:solidFill>
              </a:rPr>
              <a:t>🛠️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7222" y="2113227"/>
            <a:ext cx="1761023" cy="216741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l"/>
            <a:r>
              <a:rPr sz="850" b="1">
                <a:solidFill>
                  <a:srgbClr val="1A202C"/>
                </a:solidFill>
              </a:rPr>
              <a:t>SRE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67222" y="2329968"/>
            <a:ext cx="1761023" cy="514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l"/>
            <a:r>
              <a:rPr sz="750" b="0">
                <a:solidFill>
                  <a:srgbClr val="5B6B7B"/>
                </a:solidFill>
              </a:rPr>
              <a:t>reliability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4090" y="3115655"/>
            <a:ext cx="2438339" cy="8669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8A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ctr"/>
            <a:r>
              <a:rPr sz="750" b="0">
                <a:solidFill>
                  <a:srgbClr val="1A202C"/>
                </a:solidFill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7152461" y="3345943"/>
            <a:ext cx="406390" cy="4063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ctr"/>
            <a:r>
              <a:rPr sz="1490" b="0">
                <a:solidFill>
                  <a:srgbClr val="111111"/>
                </a:solidFill>
              </a:rPr>
              <a:t>🛡️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7222" y="3196933"/>
            <a:ext cx="1761023" cy="216741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" rIns="6000" tIns="6000" bIns="6000"/>
          <a:lstStyle/>
          <a:p>
            <a:pPr algn="l"/>
            <a:r>
              <a:rPr sz="850" b="1">
                <a:solidFill>
                  <a:srgbClr val="1A202C"/>
                </a:solidFill>
              </a:rPr>
              <a:t>SOC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7222" y="3413675"/>
            <a:ext cx="1761023" cy="514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000" rIns="6000" tIns="6000" bIns="6000"/>
          <a:lstStyle/>
          <a:p>
            <a:pPr algn="l"/>
            <a:r>
              <a:rPr sz="750" b="0">
                <a:solidFill>
                  <a:srgbClr val="5B6B7B"/>
                </a:solidFill>
              </a:rPr>
              <a:t>threats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44729" y="2573802"/>
            <a:ext cx="541853" cy="0"/>
          </a:xfrm>
          <a:prstGeom prst="line">
            <a:avLst/>
          </a:prstGeom>
          <a:ln w="13970">
            <a:solidFill>
              <a:srgbClr val="6B7B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682173" y="2465432"/>
            <a:ext cx="866965" cy="1896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6000" rIns="6000" tIns="6000" bIns="6000">
            <a:spAutoFit/>
          </a:bodyPr>
          <a:lstStyle/>
          <a:p>
            <a:pPr algn="ctr"/>
            <a:r>
              <a:rPr sz="750" b="1">
                <a:solidFill>
                  <a:srgbClr val="37474F"/>
                </a:solidFill>
              </a:rPr>
              <a:t>OTLP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66774" y="2573802"/>
            <a:ext cx="541853" cy="0"/>
          </a:xfrm>
          <a:prstGeom prst="line">
            <a:avLst/>
          </a:prstGeom>
          <a:ln w="13970">
            <a:solidFill>
              <a:srgbClr val="6B7B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04218" y="2465432"/>
            <a:ext cx="866965" cy="1896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6000" rIns="6000" tIns="6000" bIns="6000">
            <a:spAutoFit/>
          </a:bodyPr>
          <a:lstStyle/>
          <a:p>
            <a:pPr algn="ctr"/>
            <a:r>
              <a:rPr sz="750" b="1">
                <a:solidFill>
                  <a:srgbClr val="37474F"/>
                </a:solidFill>
              </a:rPr>
              <a:t>serve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